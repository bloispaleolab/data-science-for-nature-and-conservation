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9" r:id="rId14"/>
    <p:sldId id="270" r:id="rId15"/>
    <p:sldId id="272" r:id="rId16"/>
    <p:sldId id="266" r:id="rId17"/>
    <p:sldId id="267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u/0aIV6cPmohlal0t70h4uK7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1"/>
    <p:restoredTop sz="96266"/>
  </p:normalViewPr>
  <p:slideViewPr>
    <p:cSldViewPr snapToGrid="0">
      <p:cViewPr>
        <p:scale>
          <a:sx n="107" d="100"/>
          <a:sy n="107" d="100"/>
        </p:scale>
        <p:origin x="52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mode(Data) gives you storage mode of the variable</a:t>
            </a:r>
          </a:p>
          <a:p>
            <a:pPr marL="158750" indent="0" fontAlgn="base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Need to define a function:</a:t>
            </a:r>
          </a:p>
          <a:p>
            <a:pPr marL="158750" indent="0" fontAlgn="base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 &lt;- function(x) {</a:t>
            </a:r>
          </a:p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&lt;- unique(x)</a:t>
            </a:r>
          </a:p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which.max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(tabulate(match(x,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ux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)))]</a:t>
            </a:r>
          </a:p>
          <a:p>
            <a:pPr marL="158750" indent="0" fontAlgn="base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55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Data Analysis for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Nature and Conservation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230089"/>
            <a:ext cx="9144000" cy="3325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200" dirty="0"/>
              <a:t>Mammals, </a:t>
            </a:r>
            <a:r>
              <a:rPr lang="en-US" sz="3200" dirty="0" err="1"/>
              <a:t>Paleomammals</a:t>
            </a:r>
            <a:r>
              <a:rPr lang="en-US" sz="3200" dirty="0"/>
              <a:t>, and Geospatial Statistics</a:t>
            </a:r>
          </a:p>
          <a:p>
            <a:pPr marL="0" lvl="0" indent="0">
              <a:spcBef>
                <a:spcPts val="0"/>
              </a:spcBef>
            </a:pPr>
            <a:endParaRPr lang="en-US" dirty="0"/>
          </a:p>
          <a:p>
            <a:pPr marL="0" lvl="0" indent="0">
              <a:spcBef>
                <a:spcPts val="0"/>
              </a:spcBef>
            </a:pPr>
            <a:r>
              <a:rPr lang="en-US" dirty="0"/>
              <a:t>Short course offered as part of Bobcat Summer STEM Academy</a:t>
            </a:r>
          </a:p>
          <a:p>
            <a:pPr marL="0" lvl="0" indent="0">
              <a:spcBef>
                <a:spcPts val="0"/>
              </a:spcBef>
            </a:pPr>
            <a:r>
              <a:rPr lang="en-US" dirty="0"/>
              <a:t>2023, 2024, 2025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Authors: Val Syverson, Jessica Blois, and Nathaniel Brown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Primary contact: </a:t>
            </a:r>
            <a:r>
              <a:rPr lang="en-US" dirty="0" err="1"/>
              <a:t>jblois@ucla.edu</a:t>
            </a:r>
            <a:endParaRPr dirty="0"/>
          </a:p>
        </p:txBody>
      </p:sp>
      <p:pic>
        <p:nvPicPr>
          <p:cNvPr id="2" name="Picture 2" descr="Image result for NSF logo">
            <a:extLst>
              <a:ext uri="{FF2B5EF4-FFF2-40B4-BE49-F238E27FC236}">
                <a16:creationId xmlns:a16="http://schemas.microsoft.com/office/drawing/2014/main" id="{40723365-90B8-5A7E-361D-69EA64D6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335" y="5943600"/>
            <a:ext cx="90872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FBDEEC-C20A-31DE-F0AE-FC3AD37611BF}"/>
              </a:ext>
            </a:extLst>
          </p:cNvPr>
          <p:cNvSpPr txBox="1"/>
          <p:nvPr/>
        </p:nvSpPr>
        <p:spPr>
          <a:xfrm>
            <a:off x="972056" y="6301178"/>
            <a:ext cx="1300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 2149416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53D2-1FDA-0FE9-2A49-F693740D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9272E-7D3F-2286-DF19-BA0B993EC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the R software</a:t>
            </a:r>
          </a:p>
          <a:p>
            <a:r>
              <a:rPr lang="en-US" dirty="0"/>
              <a:t>About data</a:t>
            </a:r>
          </a:p>
          <a:p>
            <a:r>
              <a:rPr lang="en-US" dirty="0"/>
              <a:t>Geospatial computation</a:t>
            </a:r>
          </a:p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8819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What is the R software?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 is a computer language and computer environment used for: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Statistics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Data Analytics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Machine Learning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Mathematics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Modeling</a:t>
            </a:r>
          </a:p>
          <a:p>
            <a:pPr marL="228600" indent="-228600">
              <a:spcBef>
                <a:spcPts val="500"/>
              </a:spcBef>
              <a:buSzPts val="2400"/>
            </a:pPr>
            <a:r>
              <a:rPr lang="en-US" dirty="0"/>
              <a:t>Benefits of learning R</a:t>
            </a:r>
            <a:endParaRPr dirty="0"/>
          </a:p>
          <a:p>
            <a:pPr marL="692150" lvl="1" indent="-234950">
              <a:buSzPts val="2400"/>
            </a:pPr>
            <a:r>
              <a:rPr lang="en-US" dirty="0"/>
              <a:t>Many schools expect that you will have some experience with R, python, or MATLAB. It is a huge education and career skill!</a:t>
            </a:r>
          </a:p>
          <a:p>
            <a:pPr marL="692150" lvl="1" indent="-234950">
              <a:buSzPts val="2400"/>
            </a:pPr>
            <a:r>
              <a:rPr lang="en-US" dirty="0" err="1"/>
              <a:t>Rstudio</a:t>
            </a:r>
            <a:r>
              <a:rPr lang="en-US" dirty="0"/>
              <a:t> is an Integrated Development Environment that makes R easy to use.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5C4FF1-91CF-12C5-FDEC-81A18373BCCE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 is a language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80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 has a syntax and learning the language is the first part of learning R.</a:t>
            </a: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BUT…R is very logical and pretty simple! </a:t>
            </a: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It was made for statistics, which sounds dry but remember that statistics is a big part of daily life from sports to finance to science!</a:t>
            </a: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We can start slowly and build from there, just like anything on the computer. Think of it as learning a new type of game. </a:t>
            </a: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The nice thing about R is, like games, it is very visual. You can check to see what is working and you can make nice graphics. </a:t>
            </a:r>
            <a:endParaRPr dirty="0"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With not much time and effort, you will feel comfortable typing commands in R, the input, and looking at what it does… the output!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05D19-D9EF-8C6B-7B3D-CC40A71E111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663906" y="1599406"/>
            <a:ext cx="5181600" cy="488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A piece of data is usually considered a piece of factual information.</a:t>
            </a:r>
            <a:endParaRPr sz="16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It’s often a number, say “53”, but it may be a name or character too, like ”mammal” or “%”</a:t>
            </a:r>
            <a:endParaRPr sz="16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Putting multiple data together gives you a </a:t>
            </a:r>
            <a:r>
              <a:rPr lang="en-US" sz="1600" b="1" u="sng" dirty="0"/>
              <a:t>vector</a:t>
            </a:r>
            <a:r>
              <a:rPr lang="en-US" sz="1600" dirty="0"/>
              <a:t>. Vectors can be used in matrix math for predicting changes over time.</a:t>
            </a:r>
            <a:endParaRPr sz="16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Vectors can be combined to make lists or </a:t>
            </a:r>
            <a:r>
              <a:rPr lang="en-US" sz="1600" b="1" u="sng" dirty="0" err="1"/>
              <a:t>dataframes</a:t>
            </a:r>
            <a:r>
              <a:rPr lang="en-US" sz="1600" dirty="0"/>
              <a:t>. </a:t>
            </a:r>
            <a:r>
              <a:rPr lang="en-US" sz="1600" dirty="0" err="1"/>
              <a:t>Dataframes</a:t>
            </a:r>
            <a:r>
              <a:rPr lang="en-US" sz="1600" dirty="0"/>
              <a:t> are commonly used in science as rows and columns of many variables over different conditions (</a:t>
            </a:r>
            <a:r>
              <a:rPr lang="en-US" sz="1600" dirty="0" err="1"/>
              <a:t>ie</a:t>
            </a:r>
            <a:r>
              <a:rPr lang="en-US" sz="1600" dirty="0"/>
              <a:t>, Excel sheets).</a:t>
            </a:r>
            <a:endParaRPr sz="1600" dirty="0"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600" dirty="0"/>
              <a:t>Functions allow you to manipulate data or create new data!</a:t>
            </a:r>
            <a:endParaRPr sz="1600" dirty="0"/>
          </a:p>
        </p:txBody>
      </p:sp>
      <p:pic>
        <p:nvPicPr>
          <p:cNvPr id="104" name="Google Shape;104;p4" descr="A number on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1519" y="1360487"/>
            <a:ext cx="43561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13" y="907256"/>
            <a:ext cx="70485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A close-up of a math equation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2355" y="2463570"/>
            <a:ext cx="24384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descr="A green and black text  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63310" y="2463570"/>
            <a:ext cx="25781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 descr="A screenshot of a computer code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02834" y="4001302"/>
            <a:ext cx="3455404" cy="242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7416966" y="316583"/>
            <a:ext cx="14437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430375" y="2133371"/>
            <a:ext cx="12633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8271820" y="3631970"/>
            <a:ext cx="16159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8130E-9C1B-6E00-DEBE-721188D6D7BB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Data</a:t>
            </a:r>
          </a:p>
        </p:txBody>
      </p:sp>
      <p:sp>
        <p:nvSpPr>
          <p:cNvPr id="112" name="Google Shape;112;p4"/>
          <p:cNvSpPr txBox="1"/>
          <p:nvPr/>
        </p:nvSpPr>
        <p:spPr>
          <a:xfrm>
            <a:off x="8899648" y="6490771"/>
            <a:ext cx="33054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rspatial.org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Raw data can be analyzed statistically for useful information!</a:t>
            </a:r>
            <a:endParaRPr dirty="0"/>
          </a:p>
        </p:txBody>
      </p:sp>
      <p:sp>
        <p:nvSpPr>
          <p:cNvPr id="118" name="Google Shape;118;p5"/>
          <p:cNvSpPr txBox="1"/>
          <p:nvPr/>
        </p:nvSpPr>
        <p:spPr>
          <a:xfrm>
            <a:off x="300036" y="1682215"/>
            <a:ext cx="7400925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raw data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c(24,13,56,23,34,78,45,34,23,5,9,32,17,65,54,12,4,89,56,33,76,67,19)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about the raw data: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23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Mean(Data) = sum(Data)/N = 37.73913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= median(Data) = 33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= mode(Data) = 23, 34, 56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 = (Xi-Mean)^2 = 640.6561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 = sqrt(var) = 25.31119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0961" y="1170795"/>
            <a:ext cx="4321635" cy="319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1040" y="3831861"/>
            <a:ext cx="3629332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8542721" y="4486586"/>
            <a:ext cx="305752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is often a sample from a population.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Using statistics, you can make confident inferences about the population from the small sample that you have!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A16A6-73A8-1921-D291-115437B7CB75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 err="1"/>
              <a:t>Geocomputation</a:t>
            </a:r>
            <a:r>
              <a:rPr lang="en-US" dirty="0"/>
              <a:t>: examining attributes across space (e.g., by latitude and longitude) </a:t>
            </a:r>
            <a:endParaRPr dirty="0"/>
          </a:p>
        </p:txBody>
      </p:sp>
      <p:pic>
        <p:nvPicPr>
          <p:cNvPr id="127" name="Google Shape;127;p6" descr="A map of new zealand with blue and grey color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04" y="3868044"/>
            <a:ext cx="4581524" cy="262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819944" y="1817190"/>
            <a:ext cx="5276055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 science, ecology, and geography go hand in hand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Climate change is driving the integration of these fields to solve important problems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Understanding all of this is important not just for science but business and society!</a:t>
            </a:r>
            <a:endParaRPr sz="1800" dirty="0"/>
          </a:p>
        </p:txBody>
      </p:sp>
      <p:pic>
        <p:nvPicPr>
          <p:cNvPr id="130" name="Google Shape;130;p6" descr="A map of the world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6424" y="1817190"/>
            <a:ext cx="5970587" cy="3871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F02E0F-8445-E3CB-3310-992BA8D7EE4C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Geospatial Statistics</a:t>
            </a:r>
          </a:p>
        </p:txBody>
      </p:sp>
      <p:sp>
        <p:nvSpPr>
          <p:cNvPr id="128" name="Google Shape;128;p6"/>
          <p:cNvSpPr txBox="1"/>
          <p:nvPr/>
        </p:nvSpPr>
        <p:spPr>
          <a:xfrm>
            <a:off x="9586031" y="6492875"/>
            <a:ext cx="3055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r.geocompx.org</a:t>
            </a: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https://</a:t>
            </a:r>
            <a:r>
              <a:rPr lang="en-US" dirty="0" err="1"/>
              <a:t>r.geocompx.org</a:t>
            </a:r>
            <a:r>
              <a:rPr lang="en-US" dirty="0"/>
              <a:t>/</a:t>
            </a:r>
            <a:endParaRPr dirty="0"/>
          </a:p>
        </p:txBody>
      </p:sp>
      <p:pic>
        <p:nvPicPr>
          <p:cNvPr id="190" name="Google Shape;190;p13" descr="A screenshot of a boo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1365642"/>
            <a:ext cx="10134600" cy="49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EE08B1-3A3E-EF68-BAB0-E1BE1961CC1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Geospatial Statistics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721895" y="589547"/>
            <a:ext cx="6257639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Example: Elevation in Germany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thousands of points!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makes small cells, or pixels, of the map and gives the average of each square.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 less data to work with!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C0E80E-901C-2F07-9BB1-DF08D21FAEE6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Geospatial Statistics</a:t>
            </a:r>
          </a:p>
        </p:txBody>
      </p:sp>
      <p:pic>
        <p:nvPicPr>
          <p:cNvPr id="135" name="Google Shape;135;p7" descr="A screenshot of a computer scree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1154" y="426203"/>
            <a:ext cx="3778951" cy="60055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D06297-A422-A175-633D-C32715B8EC15}"/>
              </a:ext>
            </a:extLst>
          </p:cNvPr>
          <p:cNvSpPr txBox="1"/>
          <p:nvPr/>
        </p:nvSpPr>
        <p:spPr>
          <a:xfrm>
            <a:off x="7644614" y="6528500"/>
            <a:ext cx="4559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cran.r-project.org</a:t>
            </a:r>
            <a:r>
              <a:rPr lang="en-US" dirty="0">
                <a:solidFill>
                  <a:schemeClr val="bg1"/>
                </a:solidFill>
              </a:rPr>
              <a:t>/web/packages/terra/</a:t>
            </a:r>
            <a:r>
              <a:rPr lang="en-US" dirty="0" err="1">
                <a:solidFill>
                  <a:schemeClr val="bg1"/>
                </a:solidFill>
              </a:rPr>
              <a:t>index.html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 descr="A map of the state with different colored dot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91385"/>
            <a:ext cx="4254500" cy="42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4617244" y="1713747"/>
            <a:ext cx="2957512" cy="98583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8" descr="A graph of a spider web  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6016" y="2858253"/>
            <a:ext cx="22987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 descr="A map of the state of california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12998" y="285371"/>
            <a:ext cx="2872623" cy="285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9577135" y="2903157"/>
            <a:ext cx="541421" cy="78205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8" descr="A map of the california state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0723" y="3685210"/>
            <a:ext cx="2734243" cy="2719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/>
        </p:nvSpPr>
        <p:spPr>
          <a:xfrm>
            <a:off x="4847264" y="664917"/>
            <a:ext cx="24974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Interpolate!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0505607" y="3181034"/>
            <a:ext cx="111893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</a:t>
            </a:r>
            <a:endParaRPr dirty="0"/>
          </a:p>
        </p:txBody>
      </p:sp>
      <p:sp>
        <p:nvSpPr>
          <p:cNvPr id="149" name="Google Shape;149;p8"/>
          <p:cNvSpPr txBox="1"/>
          <p:nvPr/>
        </p:nvSpPr>
        <p:spPr>
          <a:xfrm>
            <a:off x="453936" y="5292587"/>
            <a:ext cx="734378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Example: Spatial Data –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Plotting California precipitation data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729E3-5ED6-6C30-036C-F6A74DFA6B88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Geospatial Statistics</a:t>
            </a:r>
          </a:p>
        </p:txBody>
      </p:sp>
      <p:sp>
        <p:nvSpPr>
          <p:cNvPr id="150" name="Google Shape;150;p8"/>
          <p:cNvSpPr txBox="1"/>
          <p:nvPr/>
        </p:nvSpPr>
        <p:spPr>
          <a:xfrm>
            <a:off x="9033472" y="6483778"/>
            <a:ext cx="32725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rspatial.org</a:t>
            </a: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9" descr="A map of the worl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26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 descr="A map of the south and south america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3260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639506" y="5829301"/>
            <a:ext cx="2368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 potatoes!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4383260" y="5829301"/>
            <a:ext cx="28289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Species richness by country</a:t>
            </a:r>
            <a:endParaRPr dirty="0"/>
          </a:p>
        </p:txBody>
      </p:sp>
      <p:sp>
        <p:nvSpPr>
          <p:cNvPr id="159" name="Google Shape;159;p9"/>
          <p:cNvSpPr txBox="1"/>
          <p:nvPr/>
        </p:nvSpPr>
        <p:spPr>
          <a:xfrm>
            <a:off x="9038642" y="5829301"/>
            <a:ext cx="26589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Species richness in raster</a:t>
            </a:r>
            <a:endParaRPr dirty="0"/>
          </a:p>
        </p:txBody>
      </p:sp>
      <p:sp>
        <p:nvSpPr>
          <p:cNvPr id="160" name="Google Shape;160;p9"/>
          <p:cNvSpPr/>
          <p:nvPr/>
        </p:nvSpPr>
        <p:spPr>
          <a:xfrm>
            <a:off x="3536605" y="3200400"/>
            <a:ext cx="846655" cy="5895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808739" y="3116179"/>
            <a:ext cx="846656" cy="6737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411480" y="240632"/>
            <a:ext cx="983942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Plot the number of species (species richness) of wild potato across the Americas</a:t>
            </a:r>
          </a:p>
        </p:txBody>
      </p:sp>
      <p:pic>
        <p:nvPicPr>
          <p:cNvPr id="164" name="Google Shape;164;p9" descr="A map of the worl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55393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D69EFB-385B-A354-EFC9-E8F93A745D26}"/>
              </a:ext>
            </a:extLst>
          </p:cNvPr>
          <p:cNvSpPr txBox="1"/>
          <p:nvPr/>
        </p:nvSpPr>
        <p:spPr>
          <a:xfrm>
            <a:off x="502920" y="1485900"/>
            <a:ext cx="776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b="1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contains information on wild potatoes with the observation locality and number of species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5CE9B-03EF-C33F-52A4-1E35BFFA66D4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About Geospatial Statistics</a:t>
            </a:r>
          </a:p>
        </p:txBody>
      </p:sp>
      <p:sp>
        <p:nvSpPr>
          <p:cNvPr id="4" name="Google Shape;150;p8">
            <a:extLst>
              <a:ext uri="{FF2B5EF4-FFF2-40B4-BE49-F238E27FC236}">
                <a16:creationId xmlns:a16="http://schemas.microsoft.com/office/drawing/2014/main" id="{21B96119-3A46-AEF3-4ABD-9D84A45DC6B8}"/>
              </a:ext>
            </a:extLst>
          </p:cNvPr>
          <p:cNvSpPr txBox="1"/>
          <p:nvPr/>
        </p:nvSpPr>
        <p:spPr>
          <a:xfrm>
            <a:off x="9033472" y="6483778"/>
            <a:ext cx="32725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rspatial.org</a:t>
            </a: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8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r>
              <a:rPr lang="en-US" i="1" dirty="0"/>
              <a:t> </a:t>
            </a:r>
            <a:r>
              <a:rPr lang="en-US" dirty="0"/>
              <a:t>– blue morpho butterfly</a:t>
            </a:r>
            <a:endParaRPr dirty="0"/>
          </a:p>
        </p:txBody>
      </p:sp>
      <p:pic>
        <p:nvPicPr>
          <p:cNvPr id="170" name="Google Shape;170;p10" descr="A blue butterfly with black wing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575" y="1543226"/>
            <a:ext cx="5511091" cy="459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710092" y="5954854"/>
            <a:ext cx="5511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Wikipedia Commons</a:t>
            </a:r>
            <a:endParaRPr dirty="0"/>
          </a:p>
        </p:txBody>
      </p:sp>
      <p:sp>
        <p:nvSpPr>
          <p:cNvPr id="172" name="Google Shape;172;p10"/>
          <p:cNvSpPr txBox="1"/>
          <p:nvPr/>
        </p:nvSpPr>
        <p:spPr>
          <a:xfrm>
            <a:off x="7158038" y="1859339"/>
            <a:ext cx="4243387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from Mexico to South America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old growth forests with canopies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Hydorphobic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wings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endangered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prized by collectors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1862-9310-FFF1-866B-F3210A4FBC78}"/>
              </a:ext>
            </a:extLst>
          </p:cNvPr>
          <p:cNvSpPr txBox="1"/>
          <p:nvPr/>
        </p:nvSpPr>
        <p:spPr>
          <a:xfrm>
            <a:off x="6754008" y="4655557"/>
            <a:ext cx="5051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If I wanted to see one, where in Central or South America should I go? 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Goal: build a model that describes all the places on earth where habitats/environments/climate are most suitable for this species.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4E075-88D0-95F9-CB0C-A36072FFDBF9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511444" y="365125"/>
            <a:ext cx="1129826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dirty="0">
                <a:solidFill>
                  <a:schemeClr val="tx1"/>
                </a:solidFill>
              </a:rPr>
              <a:t>Goal: build a mathematical model that describes all the places on earth where climate is suitable for supporting this species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96" name="Google Shape;196;p14" descr="A white background with blue text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810733"/>
            <a:ext cx="4239799" cy="446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/>
        </p:nvSpPr>
        <p:spPr>
          <a:xfrm>
            <a:off x="5742951" y="2031688"/>
            <a:ext cx="6066757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What is modeling?</a:t>
            </a:r>
          </a:p>
          <a:p>
            <a:pPr lvl="0"/>
            <a:endParaRPr lang="en-US" sz="2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/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“A mathematical model is a representation of a system or scenario that is used to gain qualitative and/or quantitative understanding of some real-world problems and to predict future behavior.”</a:t>
            </a:r>
          </a:p>
          <a:p>
            <a:pPr lvl="0"/>
            <a:endParaRPr lang="en-US" sz="20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Models are simple abstractions of reality</a:t>
            </a:r>
          </a:p>
          <a:p>
            <a:endParaRPr lang="en-US" sz="20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Models take the core factors of a system and describe their relationships mathematically.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Many models may exist to describe a system, the question is whether it makes sense and is useful.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2DA534-5238-0754-EADB-95E32215F5BB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501A2-0397-8BB3-E615-7F2197801379}"/>
              </a:ext>
            </a:extLst>
          </p:cNvPr>
          <p:cNvSpPr txBox="1"/>
          <p:nvPr/>
        </p:nvSpPr>
        <p:spPr>
          <a:xfrm>
            <a:off x="1256794" y="6125075"/>
            <a:ext cx="298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Authors: Bliss, Kavanagh, Galluzzo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Different kinds of mathematical models</a:t>
            </a:r>
            <a:endParaRPr dirty="0"/>
          </a:p>
        </p:txBody>
      </p:sp>
      <p:pic>
        <p:nvPicPr>
          <p:cNvPr id="206" name="Google Shape;206;p15" descr="A cover of a boo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23365"/>
            <a:ext cx="4140968" cy="504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descr="A graph and diagram of a graph  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084" y="2193067"/>
            <a:ext cx="8219236" cy="32973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5"/>
          <p:cNvSpPr txBox="1"/>
          <p:nvPr/>
        </p:nvSpPr>
        <p:spPr>
          <a:xfrm>
            <a:off x="4600575" y="5504078"/>
            <a:ext cx="675322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you change x…… how does y respond?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  <a:sym typeface="Calibri"/>
              </a:rPr>
              <a:t>What are x and y in our example?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5074444" y="1747169"/>
            <a:ext cx="2043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8243888" y="1690688"/>
            <a:ext cx="31099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973B0E-1F0A-CE65-4083-499489BB2565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1F420-D94E-8090-6B58-527A57A32FFB}"/>
              </a:ext>
            </a:extLst>
          </p:cNvPr>
          <p:cNvSpPr txBox="1"/>
          <p:nvPr/>
        </p:nvSpPr>
        <p:spPr>
          <a:xfrm>
            <a:off x="4920147" y="1419035"/>
            <a:ext cx="611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Example: Linear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497711" y="365125"/>
            <a:ext cx="108560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BioClimate</a:t>
            </a:r>
            <a:r>
              <a:rPr lang="en-US" dirty="0"/>
              <a:t> data</a:t>
            </a:r>
            <a:br>
              <a:rPr lang="en-US" dirty="0"/>
            </a:br>
            <a:r>
              <a:rPr lang="en-US" sz="3200" dirty="0"/>
              <a:t>(i.e., the x or independent predictor variables)</a:t>
            </a:r>
            <a:endParaRPr sz="3200" dirty="0"/>
          </a:p>
        </p:txBody>
      </p:sp>
      <p:pic>
        <p:nvPicPr>
          <p:cNvPr id="221" name="Google Shape;221;p17" descr="A screenshot of a white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5" y="2085428"/>
            <a:ext cx="6053472" cy="4407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A list of weather forecasts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747" y="2085428"/>
            <a:ext cx="5758187" cy="38010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856F07F-9F91-6F03-59BF-4D10FB0A31D6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C9F10-720E-FC94-4339-B3FBF818EE63}"/>
              </a:ext>
            </a:extLst>
          </p:cNvPr>
          <p:cNvSpPr txBox="1"/>
          <p:nvPr/>
        </p:nvSpPr>
        <p:spPr>
          <a:xfrm>
            <a:off x="8543174" y="6516122"/>
            <a:ext cx="3608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www.worldclim.org</a:t>
            </a:r>
            <a:r>
              <a:rPr lang="en-US" dirty="0">
                <a:solidFill>
                  <a:schemeClr val="bg1"/>
                </a:solidFill>
              </a:rPr>
              <a:t>/data/</a:t>
            </a:r>
            <a:r>
              <a:rPr lang="en-US" dirty="0" err="1">
                <a:solidFill>
                  <a:schemeClr val="bg1"/>
                </a:solidFill>
              </a:rPr>
              <a:t>bioclim.html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GBIF: Global Biodiversity Information Facility</a:t>
            </a:r>
            <a:br>
              <a:rPr lang="en-US" dirty="0"/>
            </a:br>
            <a:r>
              <a:rPr lang="en-US" sz="3200" dirty="0"/>
              <a:t>(i.e. the y or dependent variable)</a:t>
            </a:r>
            <a:endParaRPr sz="3200" dirty="0"/>
          </a:p>
        </p:txBody>
      </p:sp>
      <p:pic>
        <p:nvPicPr>
          <p:cNvPr id="178" name="Google Shape;178;p11" descr="A close up of a moth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030" y="1837036"/>
            <a:ext cx="11305940" cy="45094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3578B8-591D-9403-9704-3D41FD62B9DB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F9B53-547A-7893-7529-C140D5C36413}"/>
              </a:ext>
            </a:extLst>
          </p:cNvPr>
          <p:cNvSpPr txBox="1"/>
          <p:nvPr/>
        </p:nvSpPr>
        <p:spPr>
          <a:xfrm>
            <a:off x="10385095" y="6550223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www.gbif.org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Species Occurrences – Human Observations</a:t>
            </a:r>
            <a:br>
              <a:rPr lang="en-US" dirty="0"/>
            </a:br>
            <a:r>
              <a:rPr lang="en-US" sz="3200" dirty="0"/>
              <a:t>(i.e. the y or dependent variable)</a:t>
            </a:r>
            <a:endParaRPr sz="3200" dirty="0"/>
          </a:p>
        </p:txBody>
      </p:sp>
      <p:pic>
        <p:nvPicPr>
          <p:cNvPr id="184" name="Google Shape;184;p12" descr="A screenshot of a computer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219" y="1690688"/>
            <a:ext cx="9565562" cy="464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2CEE0A-28D6-568A-F17C-3C57319ED0B2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781C1-4163-6717-A937-68D338A40528}"/>
              </a:ext>
            </a:extLst>
          </p:cNvPr>
          <p:cNvSpPr txBox="1"/>
          <p:nvPr/>
        </p:nvSpPr>
        <p:spPr>
          <a:xfrm>
            <a:off x="10385095" y="6550223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www.gbif.org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Put it all together: model + data = inference about how species occurrences correlated with climate</a:t>
            </a:r>
            <a:endParaRPr dirty="0"/>
          </a:p>
        </p:txBody>
      </p:sp>
      <p:sp>
        <p:nvSpPr>
          <p:cNvPr id="228" name="Google Shape;228;p18"/>
          <p:cNvSpPr txBox="1"/>
          <p:nvPr/>
        </p:nvSpPr>
        <p:spPr>
          <a:xfrm>
            <a:off x="6419458" y="4346993"/>
            <a:ext cx="5493572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dirty="0"/>
              <a:t>Generalized Linear Model </a:t>
            </a:r>
          </a:p>
          <a:p>
            <a:pPr lvl="0" algn="ctr"/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Species location + climate variables: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they correlate and where?</a:t>
            </a:r>
            <a:endParaRPr dirty="0"/>
          </a:p>
        </p:txBody>
      </p:sp>
      <p:pic>
        <p:nvPicPr>
          <p:cNvPr id="230" name="Google Shape;230;p18" descr="A map of a cloud  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230" y="1790227"/>
            <a:ext cx="5860228" cy="38007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36A616-A79F-3DD3-879F-4775D8D217E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Example: </a:t>
            </a:r>
            <a:r>
              <a:rPr lang="en-US" i="1" dirty="0"/>
              <a:t>Morpho </a:t>
            </a:r>
            <a:r>
              <a:rPr lang="en-US" i="1" dirty="0" err="1"/>
              <a:t>menelaus</a:t>
            </a:r>
            <a:endParaRPr lang="en-US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1108</Words>
  <Application>Microsoft Macintosh PowerPoint</Application>
  <PresentationFormat>Widescreen</PresentationFormat>
  <Paragraphs>168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Data Analysis for  Nature and Conservation</vt:lpstr>
      <vt:lpstr>Overview</vt:lpstr>
      <vt:lpstr>What is the R software?</vt:lpstr>
      <vt:lpstr>R is a language</vt:lpstr>
      <vt:lpstr>Data</vt:lpstr>
      <vt:lpstr>Raw data can be analyzed statistically for useful information!</vt:lpstr>
      <vt:lpstr>Geocomputation: examining attributes across space (e.g., by latitude and longitude) </vt:lpstr>
      <vt:lpstr>https://r.geocompx.org/</vt:lpstr>
      <vt:lpstr>PowerPoint Presentation</vt:lpstr>
      <vt:lpstr>PowerPoint Presentation</vt:lpstr>
      <vt:lpstr>PowerPoint Presentation</vt:lpstr>
      <vt:lpstr>Example: Morpho menelaus – blue morpho butterfly</vt:lpstr>
      <vt:lpstr>Goal: build a mathematical model that describes all the places on earth where climate is suitable for supporting this species</vt:lpstr>
      <vt:lpstr>Different kinds of mathematical models</vt:lpstr>
      <vt:lpstr>BioClimate data (i.e., the x or independent predictor variables)</vt:lpstr>
      <vt:lpstr>GBIF: Global Biodiversity Information Facility (i.e. the y or dependent variable)</vt:lpstr>
      <vt:lpstr>Species Occurrences – Human Observations (i.e. the y or dependent variable)</vt:lpstr>
      <vt:lpstr>Put it all together: model + data = inference about how species occurrences correlated with climate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Nathaniel Brown</dc:creator>
  <cp:lastModifiedBy>Jessica Blois</cp:lastModifiedBy>
  <cp:revision>11</cp:revision>
  <dcterms:created xsi:type="dcterms:W3CDTF">2024-06-19T17:41:24Z</dcterms:created>
  <dcterms:modified xsi:type="dcterms:W3CDTF">2026-10-01T20:33:26Z</dcterms:modified>
</cp:coreProperties>
</file>